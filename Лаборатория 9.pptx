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07" r:id="rId5"/>
    <p:sldId id="308" r:id="rId6"/>
    <p:sldId id="312" r:id="rId7"/>
    <p:sldId id="313" r:id="rId8"/>
    <p:sldId id="314" r:id="rId9"/>
    <p:sldId id="315" r:id="rId10"/>
    <p:sldId id="31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83900690" name="Damir Rashidinov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Замещающий текст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Замещающая дата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1029" name="Замещающий нижний колонтитул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1030" name="Замещающий номер слайда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kern="1200" baseline="0">
          <a:solidFill>
            <a:srgbClr val="000000"/>
          </a:solidFill>
          <a:latin typeface="Tahoma" panose="020B0604030504040204" charset="0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20"/>
        </a:spcBef>
        <a:spcAft>
          <a:spcPts val="0"/>
        </a:spcAft>
        <a:buChar char="•"/>
        <a:defRPr sz="3200" b="0" i="0" u="none" kern="1200" baseline="0">
          <a:solidFill>
            <a:srgbClr val="000000"/>
          </a:solidFill>
          <a:latin typeface="Tahoma" panose="020B0604030504040204" charset="0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948305"/>
          </a:xfrm>
        </p:spPr>
        <p:txBody>
          <a:bodyPr/>
          <a:lstStyle/>
          <a:p>
            <a:r>
              <a:rPr lang="en-US" altLang="en-US" sz="4400"/>
              <a:t>Реализация рекурсивных алгоритмов: поиск, сортировка, вычисление</a:t>
            </a:r>
            <a:endParaRPr lang="en-US" altLang="en-US" sz="440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493895"/>
            <a:ext cx="9144000" cy="763905"/>
          </a:xfrm>
        </p:spPr>
        <p:txBody>
          <a:bodyPr/>
          <a:lstStyle/>
          <a:p>
            <a:r>
              <a:rPr lang="en-US" altLang="en-US"/>
              <a:t>Лаборатория </a:t>
            </a:r>
            <a:r>
              <a:rPr lang="en-US" altLang="en-US"/>
              <a:t>9</a:t>
            </a:r>
            <a:endParaRPr lang="en-US" altLang="en-US"/>
          </a:p>
          <a:p>
            <a:r>
              <a:rPr lang="en-US" altLang="en-US"/>
              <a:t>Языки и технология программирования</a:t>
            </a:r>
            <a:endParaRPr lang="en-US" altLang="en-US"/>
          </a:p>
          <a:p>
            <a:endParaRPr lang="en-US" altLang="en-US"/>
          </a:p>
          <a:p>
            <a:r>
              <a:rPr lang="en-US" altLang="ru-RU"/>
              <a:t>Рашидинов Д</a:t>
            </a:r>
            <a:r>
              <a:rPr lang="en-US" altLang="en-US"/>
              <a:t>амир</a:t>
            </a:r>
            <a:endParaRPr lang="en-US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4201160" y="525780"/>
            <a:ext cx="3789680" cy="5969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u="none">
                <a:solidFill>
                  <a:srgbClr val="000000"/>
                </a:solidFill>
              </a:rPr>
              <a:t>Цель работы:</a:t>
            </a:r>
            <a:endParaRPr lang="en-US" altLang="en-US" u="none">
              <a:solidFill>
                <a:srgbClr val="000000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800" u="none">
                <a:solidFill>
                  <a:srgbClr val="000000"/>
                </a:solidFill>
              </a:rPr>
              <a:t>Закрепить навыки применения рекурсии в решении вычислительных задач, а также освоить методы реализации алгоритмов поиска и сортировки с использованием рекурсивных подходов.</a:t>
            </a: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1800" b="1" u="none">
                <a:solidFill>
                  <a:srgbClr val="000000"/>
                </a:solidFill>
              </a:rPr>
              <a:t>Задачи</a:t>
            </a:r>
            <a:endParaRPr lang="en-US" altLang="en-US" sz="1800" b="1" u="non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en-US" sz="1800" u="none">
              <a:solidFill>
                <a:srgbClr val="000000"/>
              </a:solidFill>
            </a:endParaRPr>
          </a:p>
          <a:p>
            <a:r>
              <a:rPr lang="en-US" altLang="en-US" sz="1800" u="none">
                <a:solidFill>
                  <a:srgbClr val="000000"/>
                </a:solidFill>
              </a:rPr>
              <a:t>Изучить принципы работы рекурсии и механизм вызова функций.</a:t>
            </a:r>
            <a:endParaRPr lang="en-US" altLang="en-US" sz="1800" u="none">
              <a:solidFill>
                <a:srgbClr val="000000"/>
              </a:solidFill>
            </a:endParaRPr>
          </a:p>
          <a:p>
            <a:endParaRPr lang="en-US" altLang="en-US" sz="1800" u="none">
              <a:solidFill>
                <a:srgbClr val="000000"/>
              </a:solidFill>
            </a:endParaRPr>
          </a:p>
          <a:p>
            <a:r>
              <a:rPr lang="en-US" altLang="en-US" sz="1800" u="none">
                <a:solidFill>
                  <a:srgbClr val="000000"/>
                </a:solidFill>
              </a:rPr>
              <a:t>Реализовать рекурсивные алгоритмы сортировки (QuickSort, MergeSort).</a:t>
            </a:r>
            <a:endParaRPr lang="en-US" altLang="en-US" sz="1800" u="none">
              <a:solidFill>
                <a:srgbClr val="000000"/>
              </a:solidFill>
            </a:endParaRPr>
          </a:p>
          <a:p>
            <a:endParaRPr lang="en-US" altLang="en-US" sz="1800" u="none">
              <a:solidFill>
                <a:srgbClr val="000000"/>
              </a:solidFill>
            </a:endParaRPr>
          </a:p>
          <a:p>
            <a:r>
              <a:rPr lang="en-US" altLang="en-US" sz="1800" u="none">
                <a:solidFill>
                  <a:srgbClr val="000000"/>
                </a:solidFill>
              </a:rPr>
              <a:t>Реализовать рекурсивный алгоритм поиска элемента в структуре данных.</a:t>
            </a:r>
            <a:endParaRPr lang="en-US" altLang="en-US" sz="1800" u="none">
              <a:solidFill>
                <a:srgbClr val="000000"/>
              </a:solidFill>
            </a:endParaRPr>
          </a:p>
          <a:p>
            <a:endParaRPr lang="en-US" altLang="en-US" sz="1800" u="none">
              <a:solidFill>
                <a:srgbClr val="000000"/>
              </a:solidFill>
            </a:endParaRPr>
          </a:p>
          <a:p>
            <a:r>
              <a:rPr lang="en-US" altLang="en-US" sz="1800" u="none">
                <a:solidFill>
                  <a:srgbClr val="000000"/>
                </a:solidFill>
              </a:rPr>
              <a:t>Исследовать эффективность и глубину рекурсии.</a:t>
            </a:r>
            <a:endParaRPr lang="en-US" altLang="en-US" sz="1800" u="none">
              <a:solidFill>
                <a:srgbClr val="000000"/>
              </a:solidFill>
            </a:endParaRPr>
          </a:p>
        </p:txBody>
      </p:sp>
      <p:pic>
        <p:nvPicPr>
          <p:cNvPr id="5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119360" y="187960"/>
            <a:ext cx="1903730" cy="2997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u="none">
                <a:solidFill>
                  <a:srgbClr val="000000"/>
                </a:solidFill>
              </a:rPr>
              <a:t>Теоретические сведения</a:t>
            </a:r>
            <a:endParaRPr lang="en-US" altLang="en-US" u="none">
              <a:solidFill>
                <a:srgbClr val="000000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800" u="none">
                <a:solidFill>
                  <a:srgbClr val="000000"/>
                </a:solidFill>
              </a:rPr>
              <a:t>Рекурсия — это способ организации вычислений, при котором функция вызывает саму себя до достижения базового условия (точки выхода).</a:t>
            </a: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1800" u="none">
                <a:solidFill>
                  <a:srgbClr val="000000"/>
                </a:solidFill>
              </a:rPr>
              <a:t>Каждый рекурсивный вызов порождает новый контекст выполнения (стек вызовов).</a:t>
            </a: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1800" u="none">
                <a:solidFill>
                  <a:srgbClr val="000000"/>
                </a:solidFill>
              </a:rPr>
              <a:t>Важно соблюдать два ключевых принципа рекурсии:</a:t>
            </a:r>
            <a:endParaRPr lang="en-US" altLang="en-US" sz="1800" u="none">
              <a:solidFill>
                <a:srgbClr val="000000"/>
              </a:solidFill>
            </a:endParaRPr>
          </a:p>
          <a:p>
            <a:r>
              <a:rPr lang="en-US" altLang="en-US" sz="1800" u="none">
                <a:solidFill>
                  <a:srgbClr val="000000"/>
                </a:solidFill>
              </a:rPr>
              <a:t>Наличие базового (остановочного) условия.</a:t>
            </a:r>
            <a:endParaRPr lang="en-US" altLang="en-US" sz="1800" u="none">
              <a:solidFill>
                <a:srgbClr val="000000"/>
              </a:solidFill>
            </a:endParaRPr>
          </a:p>
          <a:p>
            <a:r>
              <a:rPr lang="en-US" altLang="en-US" sz="1800" u="none">
                <a:solidFill>
                  <a:srgbClr val="000000"/>
                </a:solidFill>
              </a:rPr>
              <a:t>Уменьшение задачи на каждом шаге.</a:t>
            </a: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1800" b="1" u="none">
                <a:solidFill>
                  <a:srgbClr val="000000"/>
                </a:solidFill>
              </a:rPr>
              <a:t>Примеры применения рекурсии:</a:t>
            </a:r>
            <a:endParaRPr lang="en-US" altLang="en-US" sz="1800" b="1" u="none">
              <a:solidFill>
                <a:srgbClr val="000000"/>
              </a:solidFill>
            </a:endParaRPr>
          </a:p>
          <a:p>
            <a:r>
              <a:rPr lang="en-US" altLang="en-US" sz="1800" u="none">
                <a:solidFill>
                  <a:srgbClr val="000000"/>
                </a:solidFill>
              </a:rPr>
              <a:t>вычисление факториала (n!);</a:t>
            </a:r>
            <a:endParaRPr lang="en-US" altLang="en-US" sz="1800" u="none">
              <a:solidFill>
                <a:srgbClr val="000000"/>
              </a:solidFill>
            </a:endParaRPr>
          </a:p>
          <a:p>
            <a:r>
              <a:rPr lang="en-US" altLang="en-US" sz="1800" u="none">
                <a:solidFill>
                  <a:srgbClr val="000000"/>
                </a:solidFill>
              </a:rPr>
              <a:t>вычисление чисел Фибоначчи;</a:t>
            </a:r>
            <a:endParaRPr lang="en-US" altLang="en-US" sz="1800" u="none">
              <a:solidFill>
                <a:srgbClr val="000000"/>
              </a:solidFill>
            </a:endParaRPr>
          </a:p>
          <a:p>
            <a:r>
              <a:rPr lang="en-US" altLang="en-US" sz="1800" u="none">
                <a:solidFill>
                  <a:srgbClr val="000000"/>
                </a:solidFill>
              </a:rPr>
              <a:t>обход деревьев;</a:t>
            </a:r>
            <a:endParaRPr lang="en-US" altLang="en-US" sz="1800" u="none">
              <a:solidFill>
                <a:srgbClr val="000000"/>
              </a:solidFill>
            </a:endParaRPr>
          </a:p>
          <a:p>
            <a:r>
              <a:rPr lang="en-US" altLang="en-US" sz="1800" u="none">
                <a:solidFill>
                  <a:srgbClr val="000000"/>
                </a:solidFill>
              </a:rPr>
              <a:t>сортировка данных (QuickSort, MergeSort);</a:t>
            </a:r>
            <a:endParaRPr lang="en-US" altLang="en-US" sz="1800" u="none">
              <a:solidFill>
                <a:srgbClr val="000000"/>
              </a:solidFill>
            </a:endParaRPr>
          </a:p>
          <a:p>
            <a:r>
              <a:rPr lang="en-US" altLang="en-US" sz="1800" u="none">
                <a:solidFill>
                  <a:srgbClr val="000000"/>
                </a:solidFill>
              </a:rPr>
              <a:t>поиск в структурах данных (DFS, бинарный поиск).</a:t>
            </a:r>
            <a:endParaRPr lang="en-US" altLang="en-US" sz="1800" u="none">
              <a:solidFill>
                <a:srgbClr val="000000"/>
              </a:solidFill>
            </a:endParaRPr>
          </a:p>
        </p:txBody>
      </p:sp>
      <p:pic>
        <p:nvPicPr>
          <p:cNvPr id="5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119360" y="187960"/>
            <a:ext cx="1903730" cy="2997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u="none">
                <a:solidFill>
                  <a:srgbClr val="000000"/>
                </a:solidFill>
              </a:rPr>
              <a:t>Ход выполнения работы</a:t>
            </a:r>
            <a:endParaRPr lang="en-US" altLang="en-US" u="none">
              <a:solidFill>
                <a:srgbClr val="000000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800" u="none">
                <a:solidFill>
                  <a:srgbClr val="000000"/>
                </a:solidFill>
              </a:rPr>
              <a:t>Задание 1. Простая рекурсия</a:t>
            </a: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1800" u="none">
                <a:solidFill>
                  <a:srgbClr val="000000"/>
                </a:solidFill>
              </a:rPr>
              <a:t>Напишите рекурсивную функцию для вычисления факториала числа n.</a:t>
            </a:r>
            <a:endParaRPr lang="en-US" altLang="en-US" sz="1800" u="none">
              <a:solidFill>
                <a:srgbClr val="000000"/>
              </a:solidFill>
            </a:endParaRPr>
          </a:p>
        </p:txBody>
      </p:sp>
      <p:pic>
        <p:nvPicPr>
          <p:cNvPr id="5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119360" y="187960"/>
            <a:ext cx="1903730" cy="2997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A4F013-E0A2-4A1A-883F-2A77275DA5F8}" type="slidenum">
              <a:rPr lang="ru-RU" smtClean="0"/>
            </a:fld>
            <a:endParaRPr lang="ru-RU"/>
          </a:p>
        </p:txBody>
      </p:sp>
      <p:sp>
        <p:nvSpPr>
          <p:cNvPr id="6" name="Text Box 5"/>
          <p:cNvSpPr txBox="1"/>
          <p:nvPr/>
        </p:nvSpPr>
        <p:spPr>
          <a:xfrm>
            <a:off x="978535" y="3128645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latin typeface="Cascadia Code" panose="020B0609020000020004" charset="0"/>
                <a:cs typeface="Cascadia Code" panose="020B0609020000020004" charset="0"/>
              </a:rPr>
              <a:t>def factorial(n):</a:t>
            </a:r>
            <a:endParaRPr lang="en-US" altLang="en-US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>
                <a:latin typeface="Cascadia Code" panose="020B0609020000020004" charset="0"/>
                <a:cs typeface="Cascadia Code" panose="020B0609020000020004" charset="0"/>
              </a:rPr>
              <a:t>    if n == 0 or n == 1:</a:t>
            </a:r>
            <a:endParaRPr lang="en-US" altLang="en-US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>
                <a:latin typeface="Cascadia Code" panose="020B0609020000020004" charset="0"/>
                <a:cs typeface="Cascadia Code" panose="020B0609020000020004" charset="0"/>
              </a:rPr>
              <a:t>        return 1</a:t>
            </a:r>
            <a:endParaRPr lang="en-US" altLang="en-US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>
                <a:latin typeface="Cascadia Code" panose="020B0609020000020004" charset="0"/>
                <a:cs typeface="Cascadia Code" panose="020B0609020000020004" charset="0"/>
              </a:rPr>
              <a:t>    else:</a:t>
            </a:r>
            <a:endParaRPr lang="en-US" altLang="en-US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>
                <a:latin typeface="Cascadia Code" panose="020B0609020000020004" charset="0"/>
                <a:cs typeface="Cascadia Code" panose="020B0609020000020004" charset="0"/>
              </a:rPr>
              <a:t>        return n * factorial(n - 1)</a:t>
            </a:r>
            <a:endParaRPr lang="en-US" altLang="en-US">
              <a:latin typeface="Cascadia Code" panose="020B0609020000020004" charset="0"/>
              <a:cs typeface="Cascadia Code" panose="020B0609020000020004" charset="0"/>
            </a:endParaRPr>
          </a:p>
          <a:p>
            <a:endParaRPr lang="en-US" altLang="en-US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>
                <a:latin typeface="Cascadia Code" panose="020B0609020000020004" charset="0"/>
                <a:cs typeface="Cascadia Code" panose="020B0609020000020004" charset="0"/>
              </a:rPr>
              <a:t>print(factorial(5))  # Результат: 120</a:t>
            </a:r>
            <a:endParaRPr lang="en-US" altLang="en-US">
              <a:latin typeface="Cascadia Code" panose="020B0609020000020004" charset="0"/>
              <a:cs typeface="Cascadia Code" panose="020B0609020000020004" charset="0"/>
            </a:endParaRPr>
          </a:p>
          <a:p>
            <a:endParaRPr lang="en-US"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u="none">
                <a:solidFill>
                  <a:srgbClr val="000000"/>
                </a:solidFill>
              </a:rPr>
              <a:t>Ход выполнения работы</a:t>
            </a:r>
            <a:endParaRPr lang="en-US" altLang="en-US" u="none">
              <a:solidFill>
                <a:srgbClr val="000000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800" u="none">
                <a:solidFill>
                  <a:srgbClr val="000000"/>
                </a:solidFill>
              </a:rPr>
              <a:t>Задание 2. Рекурсивный поиск</a:t>
            </a: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1800" u="none">
                <a:solidFill>
                  <a:srgbClr val="000000"/>
                </a:solidFill>
              </a:rPr>
              <a:t>Реализуйте рекурсивный алгоритм бинарного поиска элемента в отсортированном списке.</a:t>
            </a:r>
            <a:endParaRPr lang="en-US" altLang="en-US" sz="1800" u="none">
              <a:solidFill>
                <a:srgbClr val="000000"/>
              </a:solidFill>
            </a:endParaRPr>
          </a:p>
        </p:txBody>
      </p:sp>
      <p:pic>
        <p:nvPicPr>
          <p:cNvPr id="5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119360" y="187960"/>
            <a:ext cx="1903730" cy="2997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A4F013-E0A2-4A1A-883F-2A77275DA5F8}" type="slidenum">
              <a:rPr lang="ru-RU" smtClean="0"/>
            </a:fld>
            <a:endParaRPr lang="ru-RU"/>
          </a:p>
        </p:txBody>
      </p:sp>
      <p:sp>
        <p:nvSpPr>
          <p:cNvPr id="6" name="Text Box 5"/>
          <p:cNvSpPr txBox="1"/>
          <p:nvPr/>
        </p:nvSpPr>
        <p:spPr>
          <a:xfrm>
            <a:off x="1111885" y="2765425"/>
            <a:ext cx="6096000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def binary_search(arr, left, right, x):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if right &gt;= left: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    mid = left + (right - left) // 2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    if arr[mid] == x: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        return mid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    elif arr[mid] &gt; x: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        return binary_search(arr, left, mid - 1, x)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    else: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        return binary_search(arr, mid + 1, right, x)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else: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    return -1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arr = [1, 3, 5, 7, 9, 11]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x = 7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result = binary_search(arr, 0, len(arr)-1, x)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print("Элемент найден на позиции:", result)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u="none">
                <a:solidFill>
                  <a:srgbClr val="000000"/>
                </a:solidFill>
              </a:rPr>
              <a:t>Ход выполнения работы</a:t>
            </a:r>
            <a:endParaRPr lang="en-US" altLang="en-US" u="none">
              <a:solidFill>
                <a:srgbClr val="000000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800" u="none">
                <a:solidFill>
                  <a:srgbClr val="000000"/>
                </a:solidFill>
              </a:rPr>
              <a:t>Задание 3. Рекурсивная сортировка (QuickSort)</a:t>
            </a: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en-US" sz="1800" u="none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1800" u="none">
                <a:solidFill>
                  <a:srgbClr val="000000"/>
                </a:solidFill>
              </a:rPr>
              <a:t>Реализуйте алгоритм быстрой сортировки (QuickSort) с помощью рекурсии.</a:t>
            </a:r>
            <a:endParaRPr lang="en-US" altLang="en-US" sz="1800" u="none">
              <a:solidFill>
                <a:srgbClr val="000000"/>
              </a:solidFill>
            </a:endParaRPr>
          </a:p>
        </p:txBody>
      </p:sp>
      <p:pic>
        <p:nvPicPr>
          <p:cNvPr id="5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119360" y="187960"/>
            <a:ext cx="1903730" cy="2997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A4F013-E0A2-4A1A-883F-2A77275DA5F8}" type="slidenum">
              <a:rPr lang="ru-RU" smtClean="0"/>
            </a:fld>
            <a:endParaRPr lang="ru-RU"/>
          </a:p>
        </p:txBody>
      </p:sp>
      <p:sp>
        <p:nvSpPr>
          <p:cNvPr id="6" name="Text Box 5"/>
          <p:cNvSpPr txBox="1"/>
          <p:nvPr/>
        </p:nvSpPr>
        <p:spPr>
          <a:xfrm>
            <a:off x="1111885" y="2765425"/>
            <a:ext cx="609600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def quicksort(arr):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if len(arr) &lt;= 1: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    return arr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pivot = arr[len(arr)//2]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left = [x for x in arr if x &lt; pivot]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middle = [x for x in arr if x == pivot]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right = [x for x in arr if x &gt; pivot]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    return quicksort(left) + middle + quicksort(right)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altLang="en-US" sz="1400">
                <a:latin typeface="Cascadia Code" panose="020B0609020000020004" charset="0"/>
                <a:cs typeface="Cascadia Code" panose="020B0609020000020004" charset="0"/>
              </a:rPr>
              <a:t>print(quicksort([5, 2, 9, 1, 5, 6]))</a:t>
            </a:r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  <a:p>
            <a:endParaRPr lang="en-US" altLang="en-US" sz="1400"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u="none">
                <a:solidFill>
                  <a:srgbClr val="000000"/>
                </a:solidFill>
              </a:rPr>
              <a:t>Контрольные вопросы</a:t>
            </a:r>
            <a:endParaRPr lang="en-US" altLang="en-US" u="none">
              <a:solidFill>
                <a:srgbClr val="000000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AutoNum type="arabicPeriod"/>
            </a:pPr>
            <a:r>
              <a:rPr lang="en-US" altLang="en-US" sz="1800" u="none">
                <a:solidFill>
                  <a:srgbClr val="000000"/>
                </a:solidFill>
              </a:rPr>
              <a:t>Что такое рекурсия и как она реализуется в программах?</a:t>
            </a: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r>
              <a:rPr lang="en-US" altLang="en-US" sz="1800" u="none">
                <a:solidFill>
                  <a:srgbClr val="000000"/>
                </a:solidFill>
              </a:rPr>
              <a:t>Что представляет собой базовое условие рекурсии?</a:t>
            </a: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r>
              <a:rPr lang="en-US" altLang="en-US" sz="1800" u="none">
                <a:solidFill>
                  <a:srgbClr val="000000"/>
                </a:solidFill>
              </a:rPr>
              <a:t>Чем итерационный алгоритм отличается от рекурсивного?</a:t>
            </a: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r>
              <a:rPr lang="en-US" altLang="en-US" sz="1800" u="none">
                <a:solidFill>
                  <a:srgbClr val="000000"/>
                </a:solidFill>
              </a:rPr>
              <a:t>В каких случаях рекурсивные алгоритмы могут быть неэффективны?</a:t>
            </a: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r>
              <a:rPr lang="en-US" altLang="en-US" sz="1800" u="none">
                <a:solidFill>
                  <a:srgbClr val="000000"/>
                </a:solidFill>
              </a:rPr>
              <a:t>Как можно оптимизировать рекурсивные функции?</a:t>
            </a:r>
            <a:endParaRPr lang="en-US" altLang="en-US" sz="1800" u="none">
              <a:solidFill>
                <a:srgbClr val="000000"/>
              </a:solidFill>
            </a:endParaRPr>
          </a:p>
        </p:txBody>
      </p:sp>
      <p:pic>
        <p:nvPicPr>
          <p:cNvPr id="5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119360" y="187960"/>
            <a:ext cx="1903730" cy="2997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u="none">
                <a:solidFill>
                  <a:srgbClr val="000000"/>
                </a:solidFill>
              </a:rPr>
              <a:t>Форма отчёта:</a:t>
            </a:r>
            <a:endParaRPr lang="en-US" altLang="en-US" u="none">
              <a:solidFill>
                <a:srgbClr val="000000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AutoNum type="arabicPeriod"/>
            </a:pPr>
            <a:r>
              <a:rPr lang="en-US" altLang="en-US" sz="1800" u="none">
                <a:solidFill>
                  <a:srgbClr val="000000"/>
                </a:solidFill>
              </a:rPr>
              <a:t>Цель и задачи работы.</a:t>
            </a: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r>
              <a:rPr lang="en-US" altLang="en-US" sz="1800" u="none">
                <a:solidFill>
                  <a:srgbClr val="000000"/>
                </a:solidFill>
              </a:rPr>
              <a:t>Теоретические сведения по теме.</a:t>
            </a: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r>
              <a:rPr lang="en-US" altLang="en-US" sz="1800" u="none">
                <a:solidFill>
                  <a:srgbClr val="000000"/>
                </a:solidFill>
              </a:rPr>
              <a:t>Код и результаты выполнения заданий.</a:t>
            </a: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endParaRPr lang="en-US" altLang="en-US" sz="1800" u="none">
              <a:solidFill>
                <a:srgbClr val="000000"/>
              </a:solidFill>
            </a:endParaRPr>
          </a:p>
          <a:p>
            <a:pPr>
              <a:buAutoNum type="arabicPeriod"/>
            </a:pPr>
            <a:r>
              <a:rPr lang="en-US" altLang="en-US" sz="1800" u="none">
                <a:solidFill>
                  <a:srgbClr val="000000"/>
                </a:solidFill>
              </a:rPr>
              <a:t>Выводы по результатам исследования рекурсивных алгоритмов.</a:t>
            </a:r>
            <a:endParaRPr lang="en-US" altLang="en-US" sz="1800" u="none">
              <a:solidFill>
                <a:srgbClr val="000000"/>
              </a:solidFill>
            </a:endParaRPr>
          </a:p>
        </p:txBody>
      </p:sp>
      <p:pic>
        <p:nvPicPr>
          <p:cNvPr id="5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119360" y="187960"/>
            <a:ext cx="1903730" cy="2997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2799</Words>
  <Application>WPS Presentation</Application>
  <PresentationFormat>Широкоэкранный</PresentationFormat>
  <Paragraphs>133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Tahoma</vt:lpstr>
      <vt:lpstr>Cascadia Code</vt:lpstr>
      <vt:lpstr>Microsoft YaHei</vt:lpstr>
      <vt:lpstr>Arial Unicode MS</vt:lpstr>
      <vt:lpstr>Calibri</vt:lpstr>
      <vt:lpstr>Default Design</vt:lpstr>
      <vt:lpstr>Асинхронные запросы  (Fetch API, AJAX)</vt:lpstr>
      <vt:lpstr>Цель работы:</vt:lpstr>
      <vt:lpstr>Ход выполнения:</vt:lpstr>
      <vt:lpstr>Теоретические сведения</vt:lpstr>
      <vt:lpstr>Ход выполнения работы</vt:lpstr>
      <vt:lpstr>Ход выполнения работы</vt:lpstr>
      <vt:lpstr>Ход выполнения работы</vt:lpstr>
      <vt:lpstr>Форма отчёта: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ООП и разработку программного обеспечения:</dc:title>
  <dc:creator/>
  <cp:lastModifiedBy>Damir Rashidinov</cp:lastModifiedBy>
  <cp:revision>28</cp:revision>
  <dcterms:created xsi:type="dcterms:W3CDTF">2025-09-07T17:20:00Z</dcterms:created>
  <dcterms:modified xsi:type="dcterms:W3CDTF">2025-10-29T08:11:05Z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692BCDE7F3864A28849AE6D59C2FD7E3_12</vt:lpwstr>
  </property>
  <property fmtid="{D5CDD505-2E9C-101B-9397-08002B2CF9AE}" pid="3" name="KSOProductBuildVer">
    <vt:lpwstr>1033-12.2.0.23131</vt:lpwstr>
  </property>
</Properties>
</file>